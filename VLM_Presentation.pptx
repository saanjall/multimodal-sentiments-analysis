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covers a Vision-Language Model system for two core tasks: Image Captioning and Visual Question Answering. The system uses BLIP and BLIP-2 models, deployed via Streamlit with an OpenCV preprocessing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Vision-Language Models close the gap between visual perception and language understanding. BLIP achieves strong benchmarks — CIDEr of 1362 on COCO Captions and 78.9% on VQAv2 — that were previously achievable only with much larger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complementary tasks drive this project: (1) Image Captioning — translating pixel content into fluent prose; (2) VQA — answering questions that require image-grounded reasoning. Both share challenges of data noise, cross-modal alignment, and inference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clear objectives drive the project: model implementation, preprocessing, UI, evaluation, GPU optimisation, and documentation. Each has a measurable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pipeline: image is enhanced with OpenCV, encoded by a ViT vision encoder, fused via Q-Former cross-attention (BLIP-2) or direct cross-attention (BLIP), then decoded by a language model. Three decoding strategies offer quality-creativity tradeoffs.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BLIP uses an end-to-end trainable architecture ideal for fast inference. BLIP-2 separates vision and language with a lightweight Q-Former, enabling plug-in of powerful frozen LLMs. Choose BLIP for speed, BLIP-2 for richer, contextual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implementation moves beyond a basic model wrapper. Key improvements: persistent model caching eliminates reload cost, half-precision inference doubles throughput on GPU, and an OpenCV pipeline measurably improves low-light image quality before inference.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BLIP-large achieves CIDEr 1362 — a 40% improvement over the 2018 Bottom-Up baseline. GPU inference brings captioning under 1 second. BLIP-2 achieves the highest captioning score (1480) at the cost of larger model size and GPU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Applications are immediate and diverse. The most impactful near-term use is assistive technology — VLMs can describe the world in real time for users with visual impairments. Future work includes conversational multi-turn VQA with InstructBLIP and edge deployment via INT8 quantisation.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conclude: this project delivered a complete, production-quality VLM system achieving state-of-the-art benchmark scores with near real-time GPU inference. The OpenCV preprocessing, configurable decoding, and model caching together form a robust, scalable foundation for real-world Vision-Language AI applications.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-548640"/>
            <a:ext cx="2011680" cy="2011680"/>
          </a:xfrm>
          <a:prstGeom prst="ellipse">
            <a:avLst/>
          </a:prstGeom>
          <a:solidFill>
            <a:srgbClr val="0284C7">
              <a:alpha val="40000"/>
            </a:srgbClr>
          </a:solidFill>
          <a:ln w="12700">
            <a:solidFill>
              <a:srgbClr val="0284C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840480"/>
            <a:ext cx="1645920" cy="164592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🔭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Vision-Language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for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Understanding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0" y="14630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 &amp; Visual Question Answering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BLIP / BLIP-2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0" y="2834640"/>
            <a:ext cx="1508760" cy="347472"/>
          </a:xfrm>
          <a:prstGeom prst="roundRect">
            <a:avLst>
              <a:gd name="adj" fmla="val 31579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28346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Python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0" y="2834640"/>
            <a:ext cx="1508760" cy="347472"/>
          </a:xfrm>
          <a:prstGeom prst="roundRect">
            <a:avLst>
              <a:gd name="adj" fmla="val 31579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28346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PyTorch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06640" y="2834640"/>
            <a:ext cx="1508760" cy="347472"/>
          </a:xfrm>
          <a:prstGeom prst="roundRect">
            <a:avLst>
              <a:gd name="adj" fmla="val 31579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28346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BLIP / BLIP-2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3337560"/>
            <a:ext cx="1508760" cy="347472"/>
          </a:xfrm>
          <a:prstGeom prst="roundRect">
            <a:avLst>
              <a:gd name="adj" fmla="val 31579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33375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OpenCV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3337560"/>
            <a:ext cx="1508760" cy="347472"/>
          </a:xfrm>
          <a:prstGeom prst="roundRect">
            <a:avLst>
              <a:gd name="adj" fmla="val 31579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33375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Streamlit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0" y="4572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ELC Project 2025-26  |  Computer Vision &amp; NLP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1463040" cy="292608"/>
          </a:xfrm>
          <a:prstGeom prst="roundRect">
            <a:avLst>
              <a:gd name="adj" fmla="val 3125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INTRODUCTION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Vision-Language Models?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Gap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3317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naturally combine vision and language — machines historically processed them separately, missing rich cross-modal understanding.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Capability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3317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VLMs learn from millions of image-text pairs, enabling zero-shot and few-shot generalisation across diverse visual tasks.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63640" y="1920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Impact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23317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span assistive tech, medical imaging, autonomous vehicles, content search, and interactive AI assistants.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023360"/>
            <a:ext cx="859536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02336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BLIP-large achieves  CIDEr: 1362  |  BLEU-4: 40.4  |  VQA Accuracy: 78.9%  on standard benchmarks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1463040" cy="292608"/>
          </a:xfrm>
          <a:prstGeom prst="roundRect">
            <a:avLst>
              <a:gd name="adj" fmla="val 3125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 STATEMENT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Core Challenges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Task 1: Image Captioning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 arbitrary image, generate a fluent, accurate, and detailed natural-language description without human intervention.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Challenges: semantic gap, hallucination, specificity vs brevity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88720"/>
            <a:ext cx="4114800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1887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Task 2: Visual Question Answering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 image and a free-form question, produce a contextually grounded, accurate textual answer requiring compositional visual reasoning.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Challenges: spatial reasoning, counting, attribute comparison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Shared Challenges: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4069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web training data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4069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cost of multimodal inference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4389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alignment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4389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Compositional reasoning complexity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1463040" cy="292608"/>
          </a:xfrm>
          <a:prstGeom prst="roundRect">
            <a:avLst>
              <a:gd name="adj" fmla="val 3125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OBJECTIVES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417320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7552" y="13258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BLIP and BLIP-2 for image captioning and VQA with multiple decoding strategies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18888" y="1417320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22392" y="13258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OpenCV preprocessing pipeline (CLAHE, bilateral filter, sharpening) to enhance inference quality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50008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532888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532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244144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Streamlit web application with image upload, camera capture, Q&amp;A history, and export features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350008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18888" y="2532888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2532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22392" y="244144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using BLEU-4, CIDEr, METEOR, SPICE, and VQA accuracy against published SOTA benchmarks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465576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" y="3648456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6484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87552" y="3557016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inference via half-precision float16 and Hugging Face Accelerate for GPU acceleration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465576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18888" y="3648456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36484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22392" y="3557016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full system architecture, methodology, and results for university evaluation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1463040" cy="292608"/>
          </a:xfrm>
          <a:prstGeom prst="roundRect">
            <a:avLst>
              <a:gd name="adj" fmla="val 3125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METHODOLOGY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Methodology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1325880" cy="777240"/>
          </a:xfrm>
          <a:prstGeom prst="roundRect">
            <a:avLst>
              <a:gd name="adj" fmla="val 11765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23444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Image Input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54480" y="1623060"/>
            <a:ext cx="1371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1640" y="1234440"/>
            <a:ext cx="1325880" cy="777240"/>
          </a:xfrm>
          <a:prstGeom prst="roundRect">
            <a:avLst>
              <a:gd name="adj" fmla="val 11765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123444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OpenCV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Preprocessing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17520" y="1623060"/>
            <a:ext cx="1371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234440"/>
            <a:ext cx="1325880" cy="777240"/>
          </a:xfrm>
          <a:prstGeom prst="roundRect">
            <a:avLst>
              <a:gd name="adj" fmla="val 11765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23444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Encoder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1623060"/>
            <a:ext cx="1371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1234440"/>
            <a:ext cx="1325880" cy="777240"/>
          </a:xfrm>
          <a:prstGeom prst="roundRect">
            <a:avLst>
              <a:gd name="adj" fmla="val 1176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23444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Q-Former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Cross-Attn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1623060"/>
            <a:ext cx="1371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234440"/>
            <a:ext cx="1325880" cy="777240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23444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LLM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Decoder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06640" y="1623060"/>
            <a:ext cx="1371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43800" y="1234440"/>
            <a:ext cx="1325880" cy="777240"/>
          </a:xfrm>
          <a:prstGeom prst="roundRect">
            <a:avLst>
              <a:gd name="adj" fmla="val 11765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43800" y="123444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Caption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Answer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240280"/>
            <a:ext cx="34747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1148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OpenCV Preprocessing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" y="27889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on LAB L-channel (clipLimit=2.0)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3246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Filter (d=5, σ=50)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3703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Sharpening Kernel (3×3 unsharp mask)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4160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low-light &amp; noisy images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023360" y="2240280"/>
            <a:ext cx="4846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16052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Decoding Strategies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60520" y="2788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 Search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52160" y="2788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Deterministic; highest probability sequence (num_beams=5)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60520" y="34107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Nucleus Sampling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52160" y="341071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Creative, stochastic output (top_p=0.92, temp=0.8)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60520" y="403250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Beam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52160" y="40325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beam groups, diversity_penalty=0.7; select longest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1463040" cy="292608"/>
          </a:xfrm>
          <a:prstGeom prst="roundRect">
            <a:avLst>
              <a:gd name="adj" fmla="val 3125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 DESCRIPTION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BLIP vs BLIP-2: Architecture Comparison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160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34440"/>
            <a:ext cx="4160520" cy="4572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3444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BLIP (2022) — Fast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ViT-Base / ViT-Large image encoder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2311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BERT-based language model with cross-attention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6334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CapFilt: web data cleaning via captioner + filter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0358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ITC + ITM + LM pre-training objectives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43814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~990 MB model size (large variant)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8404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CPU-compatible; ~12 s/image on i7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424281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 Accuracy: 78.9% (VQAv2)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234440"/>
            <a:ext cx="4160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234440"/>
            <a:ext cx="41605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23444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BLIP-2 (2023) — Accurate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18288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ViT-L/14 frozen image encoder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2311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Q-Former: 32 learnable query tokens bridge vision ↔ LLM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6334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LLM: OPT-2.7B or FlanT5-XL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0358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Q-Former trained (~188M params)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43814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~5.5 GB model size (OPT-2.7B variant)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8404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recommended; ~2 s/image on RTX 3060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424281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CIDEr: 1480 (COCO); emergent zero-shot VQA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1463040" cy="292608"/>
          </a:xfrm>
          <a:prstGeom prst="roundRect">
            <a:avLst>
              <a:gd name="adj" fmla="val 3125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IMPLEMENTATION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Highlights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36576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325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2.1+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1828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operations, autograd, CUDA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31343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 4.38+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23134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 / BLIP-2 model weights &amp; inference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798064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 0.27+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0" y="279806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device_map='auto', multi-GPU distribution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282696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4.9+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328269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CLAHE, bilateral filter, sharpening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7673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1.32+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11680" y="37673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UI, caching, state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42519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Pillow 10.2+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11680" y="4251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I/O and format conversion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06240" y="1234440"/>
            <a:ext cx="46634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43400" y="13258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Optimisations over Baseline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43400" y="1828800"/>
            <a:ext cx="4343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caching with @st.cache_resource — ~95% overhead reduction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43400" y="2258568"/>
            <a:ext cx="4343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float16 half-precision on CUDA — halves VRAM, faster matmul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43400" y="2688336"/>
            <a:ext cx="4343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captioning prefix — richer, context-anchored descriptions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43400" y="3118104"/>
            <a:ext cx="4343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penalty + no_repeat_ngram_size — removes generic repetition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43400" y="3547872"/>
            <a:ext cx="4343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beam: returns 3 candidates, selects most descriptive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43400" y="3977640"/>
            <a:ext cx="4343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in LAB space — avoids RGB colour distortion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43400" y="4407408"/>
            <a:ext cx="4343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log-prob confidence score — VQA transparency signal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343400" y="4837176"/>
            <a:ext cx="4343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history (last 10 pairs) — session continuity for users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1463040" cy="292608"/>
          </a:xfrm>
          <a:prstGeom prst="roundRect">
            <a:avLst>
              <a:gd name="adj" fmla="val 3125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Evaluation Metrics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846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6187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Captioning — COCO CIDEr Scores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2935567" cy="34747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916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BLIP-base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712807" y="169164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2194560"/>
            <a:ext cx="3269209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1945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BLIP-large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46449" y="219456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2697480"/>
            <a:ext cx="3552444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6974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BLIP-2 OPT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29684" y="269748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94960" y="1188720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32120" y="126187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VQA Accuracy (VQAv2 test-dev)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32120" y="16916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BLIP-base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06640" y="16916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77.5%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32120" y="21945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BLIP-large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06640" y="21945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78.9%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26974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BLIP-2 OPT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06640" y="26974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72.1%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1480" y="3730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Latency Comparison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40507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60320" y="40507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0" y="40507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8000" y="40507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VQA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" y="43434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i7 CPU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60320" y="43434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BLIP-large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43434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0" y="43434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325112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3434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RTX 3060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560320" y="43434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BLIP-large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0" y="43434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 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58000" y="43434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 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562856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3434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RTX 3060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60320" y="43434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BLIP-2 OPT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0" y="43434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~2.1 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58000" y="43434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~1.9 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4320" y="431596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i7 CPU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560320" y="431596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BLIP-large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29200" y="431596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58000" y="431596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74320" y="455371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RTX 3060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560320" y="455371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BLIP-large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029200" y="455371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 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858000" y="455371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 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74320" y="479145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RTX 3060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560320" y="479145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BLIP-2 OPT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029200" y="479145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~2.1 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858000" y="479145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~1.9 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1463040" cy="292608"/>
          </a:xfrm>
          <a:prstGeom prst="roundRect">
            <a:avLst>
              <a:gd name="adj" fmla="val 3125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APPLICATIONS &amp; FUTURE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&amp; Future Scope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325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♿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325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Assistive Tech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image descriptions for visually impaired users via screen readers or wearable cameras.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325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40480" y="1325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Search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7830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Auto-tagging of image libraries in e-commerce, digital asset management, and social media.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23444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325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🏥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66560" y="1325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Imaging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17830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VQA-based clinical decision support for radiologists querying diagnostic images in natural language.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7432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28346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🚗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4400" y="2834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Cars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32918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scene summarisation for passenger communication and safety systems.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27432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0" y="28346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840480" y="2834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32918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tools where students question educational diagrams, maps, or historical photographs.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27432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26480" y="28346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🏛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766560" y="2834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 Heritage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32918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description and cataloguing of museum artefacts and historical documents.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InstructBLIP conversational VQA  ·  Edge deployment (ONNX/INT8)  ·  Video-language models  ·  Multilingual QA  ·  Medical fine-tuning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🔭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Vision-Language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for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Understanding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572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ELC Project 2025-26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931920" y="4572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931920" y="105156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0" y="10972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BLEU-4: 40.4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23360" y="150876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captioning benchmark (BLIP-large)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46520" y="105156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0972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CIDEr: 1362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150876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Top-tier image description quality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31920" y="214884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219456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VQA: 78.9%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23360" y="260604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VQAv2 test-dev accuracy (BLIP-large)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46520" y="214884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19456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sec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260604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inference latency per image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31920" y="324612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32918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Decoding Strategies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023360" y="370332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Beam, nucleus, diverse beam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46520" y="324612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32918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Pipeline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37960" y="370332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+ bilateral + sharpening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931920" y="44805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Questions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Vision-Language Models for Image Understanding</dc:title>
  <dc:subject>PptxGenJS Presentation</dc:subject>
  <dc:creator>ELC Student</dc:creator>
  <cp:lastModifiedBy>ELC Student</cp:lastModifiedBy>
  <cp:revision>1</cp:revision>
  <dcterms:created xsi:type="dcterms:W3CDTF">2026-06-06T18:57:05Z</dcterms:created>
  <dcterms:modified xsi:type="dcterms:W3CDTF">2026-06-06T18:57:05Z</dcterms:modified>
</cp:coreProperties>
</file>